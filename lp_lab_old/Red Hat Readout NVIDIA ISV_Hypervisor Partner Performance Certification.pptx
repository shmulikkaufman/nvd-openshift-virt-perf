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embeddedFontLst>
    <p:embeddedFont>
      <p:font typeface="NVIDIA Sans" panose="020B050302020302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2">
          <p15:clr>
            <a:srgbClr val="747775"/>
          </p15:clr>
        </p15:guide>
        <p15:guide id="2" orient="horz" pos="16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579DCFE-11B6-4915-AA6C-D9035A518B1B}">
  <a:tblStyle styleId="{E579DCFE-11B6-4915-AA6C-D9035A518B1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4C16988-FEC2-4D51-95F9-27ABCF305A5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A7118952-4494-4979-8511-52959AE7D65F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22B5319-53D3-406E-919C-29FF924BB73E}" styleName="Table_3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72"/>
        <p:guide orient="horz" pos="16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ad62c4c96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ad62c4c96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ad62c4c96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ad62c4c96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eb9c750a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3eeb9c750a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ad62c4c96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ad62c4c96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ad62c4c96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ad62c4c96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b96334388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3eb96334388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b9633438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eb96334388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eb96334388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eb96334388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eb9c750aa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g3eeb9c750aa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eb9c750a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eeb9c750a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eb9c750aa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g3eeb9c750aa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0"/>
            <a:ext cx="9143997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7016" y="218250"/>
            <a:ext cx="2107910" cy="72670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78251" y="757700"/>
            <a:ext cx="48120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11425" rIns="22850" bIns="1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78251" y="1997238"/>
            <a:ext cx="4812000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11425" rIns="22850" bIns="11425" anchor="t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VIDIA Sans"/>
              <a:buNone/>
              <a:defRPr sz="110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1pPr>
            <a:lvl2pPr marR="0"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NVIDIA Sans"/>
              <a:buNone/>
              <a:defRPr sz="150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2pPr>
            <a:lvl3pPr marR="0"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VIDIA Sans"/>
              <a:buNone/>
              <a:defRPr sz="140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3pPr>
            <a:lvl4pPr marR="0"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VIDIA Sans"/>
              <a:buNone/>
              <a:defRPr sz="120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4pPr>
            <a:lvl5pPr marR="0"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VIDIA Sans"/>
              <a:buNone/>
              <a:defRPr sz="120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5pPr>
            <a:lvl6pPr marR="0"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VIDIA Sans"/>
              <a:buNone/>
              <a:defRPr sz="120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6pPr>
            <a:lvl7pPr marR="0" lvl="6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VIDIA Sans"/>
              <a:buNone/>
              <a:defRPr sz="120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7pPr>
            <a:lvl8pPr marR="0" lvl="7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VIDIA Sans"/>
              <a:buNone/>
              <a:defRPr sz="120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8pPr>
            <a:lvl9pPr marR="0" lvl="8" algn="ctr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200"/>
              <a:buFont typeface="NVIDIA Sans"/>
              <a:buNone/>
              <a:defRPr sz="1200" i="0" u="none" strike="noStrike" cap="none">
                <a:solidFill>
                  <a:schemeClr val="lt1"/>
                </a:solidFill>
                <a:latin typeface="NVIDIA Sans"/>
                <a:ea typeface="NVIDIA Sans"/>
                <a:cs typeface="NVIDIA Sans"/>
                <a:sym typeface="NVIDI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nvidia.com/ai-enterprise/planning-resource/optimizing-vm-configuration-ai-inference/latest/index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ctrTitle"/>
          </p:nvPr>
        </p:nvSpPr>
        <p:spPr>
          <a:xfrm>
            <a:off x="378250" y="757700"/>
            <a:ext cx="49203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11425" rIns="22850" bIns="11425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NVIDIA-Certified Hypervisor Program</a:t>
            </a:r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378251" y="2225588"/>
            <a:ext cx="4812000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11425" rIns="22850" bIns="1142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1200"/>
              </a:spcAft>
              <a:buSzPts val="1100"/>
              <a:buNone/>
            </a:pPr>
            <a:r>
              <a:rPr lang="en" i="1">
                <a:solidFill>
                  <a:schemeClr val="dk1"/>
                </a:solidFill>
              </a:rPr>
              <a:t>June 11, 2026</a:t>
            </a:r>
            <a:endParaRPr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311700" y="301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76B900"/>
                </a:solidFill>
                <a:latin typeface="NVIDIA Sans"/>
                <a:ea typeface="NVIDIA Sans"/>
                <a:cs typeface="NVIDIA Sans"/>
                <a:sym typeface="NVIDIA Sans"/>
              </a:rPr>
              <a:t>Context/Opportunity</a:t>
            </a:r>
            <a:endParaRPr>
              <a:solidFill>
                <a:srgbClr val="76B900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Enterprises are virtualizing GPU workloads at scale and demanding performance parity with bare metal*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Customers want assurance that their hypervisor stack is validated and optimized for NVIDIA GPUs.</a:t>
            </a:r>
            <a:endParaRPr sz="1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 b="1"/>
              <a:t>Red Hat</a:t>
            </a:r>
            <a:r>
              <a:rPr lang="en" sz="1400"/>
              <a:t> has already done the work required - this program gives you hardware access and a validation framework to demonstrate and stay competitive.</a:t>
            </a:r>
            <a:endParaRPr sz="1400"/>
          </a:p>
        </p:txBody>
      </p:sp>
      <p:sp>
        <p:nvSpPr>
          <p:cNvPr id="67" name="Google Shape;67;p15"/>
          <p:cNvSpPr txBox="1"/>
          <p:nvPr/>
        </p:nvSpPr>
        <p:spPr>
          <a:xfrm>
            <a:off x="311700" y="4568875"/>
            <a:ext cx="7215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0" i="1" u="none" strike="noStrike" cap="none">
                <a:solidFill>
                  <a:srgbClr val="76B900"/>
                </a:solidFill>
                <a:latin typeface="Arial"/>
                <a:ea typeface="Arial"/>
                <a:cs typeface="Arial"/>
                <a:sym typeface="Arial"/>
              </a:rPr>
              <a:t>*Whitepaper: </a:t>
            </a:r>
            <a:r>
              <a:rPr lang="en" sz="1000" b="0" i="1" u="sng" strike="noStrike" cap="none">
                <a:solidFill>
                  <a:srgbClr val="76B9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Optimizing VM Configuration for Performant AI Inference</a:t>
            </a:r>
            <a:endParaRPr sz="1000" b="0" i="1" u="none" strike="noStrike" cap="none">
              <a:solidFill>
                <a:srgbClr val="76B9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3078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76B900"/>
                </a:solidFill>
                <a:latin typeface="NVIDIA Sans"/>
                <a:ea typeface="NVIDIA Sans"/>
                <a:cs typeface="NVIDIA Sans"/>
                <a:sym typeface="NVIDIA Sans"/>
              </a:rPr>
              <a:t>Pgm Goals &amp; Overview</a:t>
            </a:r>
            <a:endParaRPr sz="2500">
              <a:solidFill>
                <a:srgbClr val="76B900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338900" y="1211950"/>
            <a:ext cx="85206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76B900"/>
                </a:solidFill>
              </a:rPr>
              <a:t>Mission</a:t>
            </a:r>
            <a:endParaRPr sz="1200">
              <a:solidFill>
                <a:srgbClr val="76B9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Enable Hypervisor ISVs to validate that their GPU-optimized virtualization platforms &amp; infra SW stacks can deliver near bare metal performance for Compute/AI workloads using NVIDIA-provided HW, curated validation suites, and control stack baselines that evolves with NVIDIA’s HW roadmap.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76B900"/>
                </a:solidFill>
              </a:rPr>
              <a:t>Goals/Objectives</a:t>
            </a:r>
            <a:endParaRPr sz="1200">
              <a:solidFill>
                <a:srgbClr val="76B900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Establish a standardized performance baseline that enables consistent validation across Hypervisor ISVs &amp; partners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Access to latest NVIDIA platforms with a turnkey validation suite- deploy, run and validate.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Provide NVIDIA-backed validation that hypervisor partners can use to demonstrate AI readiness for virtualized Compute/AI workloads</a:t>
            </a:r>
            <a:endParaRPr sz="120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Ongoing partnership tied to NVIDIA's roadmap so partners can revalidate with latest GPU architectures</a:t>
            </a:r>
            <a:endParaRPr sz="12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ctrTitle"/>
          </p:nvPr>
        </p:nvSpPr>
        <p:spPr>
          <a:xfrm>
            <a:off x="378250" y="1052725"/>
            <a:ext cx="53874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11425" rIns="22850" bIns="11425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3000">
                <a:latin typeface="NVIDIA Sans"/>
                <a:ea typeface="NVIDIA Sans"/>
                <a:cs typeface="NVIDIA Sans"/>
                <a:sym typeface="NVIDIA Sans"/>
              </a:rPr>
              <a:t>Program Tracks</a:t>
            </a:r>
            <a:endParaRPr sz="3000">
              <a:latin typeface="NVIDIA Sans"/>
              <a:ea typeface="NVIDIA Sans"/>
              <a:cs typeface="NVIDIA Sans"/>
              <a:sym typeface="NVIDI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311700" y="307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>
                <a:solidFill>
                  <a:srgbClr val="76B900"/>
                </a:solidFill>
                <a:latin typeface="NVIDIA Sans"/>
                <a:ea typeface="NVIDIA Sans"/>
                <a:cs typeface="NVIDIA Sans"/>
                <a:sym typeface="NVIDIA Sans"/>
              </a:rPr>
              <a:t>Track I- x86 Servers</a:t>
            </a:r>
            <a:endParaRPr sz="2500">
              <a:solidFill>
                <a:srgbClr val="76B900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84" name="Google Shape;84;p18"/>
          <p:cNvSpPr/>
          <p:nvPr/>
        </p:nvSpPr>
        <p:spPr>
          <a:xfrm>
            <a:off x="1186500" y="1806075"/>
            <a:ext cx="1513800" cy="7014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I: Single Node</a:t>
            </a:r>
            <a:endParaRPr/>
          </a:p>
        </p:txBody>
      </p:sp>
      <p:sp>
        <p:nvSpPr>
          <p:cNvPr id="85" name="Google Shape;85;p18"/>
          <p:cNvSpPr/>
          <p:nvPr/>
        </p:nvSpPr>
        <p:spPr>
          <a:xfrm>
            <a:off x="3653475" y="1806075"/>
            <a:ext cx="1513800" cy="7014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Phase II: Multi Node</a:t>
            </a:r>
            <a:endParaRPr/>
          </a:p>
        </p:txBody>
      </p:sp>
      <p:sp>
        <p:nvSpPr>
          <p:cNvPr id="86" name="Google Shape;86;p18"/>
          <p:cNvSpPr/>
          <p:nvPr/>
        </p:nvSpPr>
        <p:spPr>
          <a:xfrm>
            <a:off x="6380425" y="1806075"/>
            <a:ext cx="1991400" cy="7014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NVIDIA-Certified Hypervisor</a:t>
            </a:r>
            <a:endParaRPr/>
          </a:p>
        </p:txBody>
      </p:sp>
      <p:pic>
        <p:nvPicPr>
          <p:cNvPr id="87" name="Google Shape;87;p18" descr="a golden trophy with a brown base and a gold label on it (Provided by Tenor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0475" y="1972475"/>
            <a:ext cx="346400" cy="368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" name="Google Shape;88;p18"/>
          <p:cNvCxnSpPr>
            <a:stCxn id="84" idx="3"/>
            <a:endCxn id="85" idx="1"/>
          </p:cNvCxnSpPr>
          <p:nvPr/>
        </p:nvCxnSpPr>
        <p:spPr>
          <a:xfrm>
            <a:off x="2700300" y="2156775"/>
            <a:ext cx="953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9" name="Google Shape;89;p18"/>
          <p:cNvCxnSpPr>
            <a:stCxn id="85" idx="3"/>
            <a:endCxn id="86" idx="1"/>
          </p:cNvCxnSpPr>
          <p:nvPr/>
        </p:nvCxnSpPr>
        <p:spPr>
          <a:xfrm>
            <a:off x="5167275" y="2156775"/>
            <a:ext cx="12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" name="Google Shape;90;p18"/>
          <p:cNvSpPr txBox="1"/>
          <p:nvPr/>
        </p:nvSpPr>
        <p:spPr>
          <a:xfrm>
            <a:off x="1070700" y="2711625"/>
            <a:ext cx="1745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8-GPU VM on a Hopper HGX node with all PCIe devices passed through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6456025" y="2675350"/>
            <a:ext cx="1840200" cy="16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Partner is recognized as “NVIDIA-Certified Hypervisor” by NVIDIA upon successful completion of multi-node x86 validation</a:t>
            </a:r>
            <a:endParaRPr/>
          </a:p>
        </p:txBody>
      </p:sp>
      <p:sp>
        <p:nvSpPr>
          <p:cNvPr id="92" name="Google Shape;92;p18"/>
          <p:cNvSpPr txBox="1"/>
          <p:nvPr/>
        </p:nvSpPr>
        <p:spPr>
          <a:xfrm>
            <a:off x="3535375" y="2754800"/>
            <a:ext cx="18792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Two 8-GPU VMs, one each on two identical Hopper HGX nodes configured in full passthrough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311700" y="307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>
                <a:solidFill>
                  <a:srgbClr val="76B900"/>
                </a:solidFill>
                <a:latin typeface="NVIDIA Sans"/>
                <a:ea typeface="NVIDIA Sans"/>
                <a:cs typeface="NVIDIA Sans"/>
                <a:sym typeface="NVIDIA Sans"/>
              </a:rPr>
              <a:t>Track II - ARM Servers</a:t>
            </a:r>
            <a:endParaRPr sz="2500">
              <a:solidFill>
                <a:srgbClr val="76B900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98" name="Google Shape;98;p19"/>
          <p:cNvSpPr/>
          <p:nvPr/>
        </p:nvSpPr>
        <p:spPr>
          <a:xfrm>
            <a:off x="2530550" y="1806075"/>
            <a:ext cx="1513800" cy="7014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GB200 NVL Compute Tray</a:t>
            </a:r>
            <a:endParaRPr/>
          </a:p>
        </p:txBody>
      </p:sp>
      <p:sp>
        <p:nvSpPr>
          <p:cNvPr id="99" name="Google Shape;99;p19"/>
          <p:cNvSpPr/>
          <p:nvPr/>
        </p:nvSpPr>
        <p:spPr>
          <a:xfrm>
            <a:off x="5076600" y="1806075"/>
            <a:ext cx="2011200" cy="7014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NVIDIA-</a:t>
            </a:r>
            <a:r>
              <a:rPr lang="en">
                <a:solidFill>
                  <a:schemeClr val="dk1"/>
                </a:solidFill>
              </a:rPr>
              <a:t>Certified Hypervisor</a:t>
            </a:r>
            <a:endParaRPr/>
          </a:p>
        </p:txBody>
      </p:sp>
      <p:pic>
        <p:nvPicPr>
          <p:cNvPr id="100" name="Google Shape;100;p19" descr="a golden trophy with a brown base and a gold label on it (Provided by Tenor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6650" y="1972475"/>
            <a:ext cx="346400" cy="368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" name="Google Shape;101;p19"/>
          <p:cNvCxnSpPr>
            <a:stCxn id="98" idx="3"/>
            <a:endCxn id="102" idx="1"/>
          </p:cNvCxnSpPr>
          <p:nvPr/>
        </p:nvCxnSpPr>
        <p:spPr>
          <a:xfrm>
            <a:off x="4044350" y="2156775"/>
            <a:ext cx="953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3" name="Google Shape;103;p19"/>
          <p:cNvSpPr txBox="1"/>
          <p:nvPr/>
        </p:nvSpPr>
        <p:spPr>
          <a:xfrm>
            <a:off x="2414750" y="2711625"/>
            <a:ext cx="1745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4-GPU VM on an GB200 NVL4 Tray with all PCIe devices passed through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4" name="Google Shape;104;p19"/>
          <p:cNvSpPr txBox="1"/>
          <p:nvPr/>
        </p:nvSpPr>
        <p:spPr>
          <a:xfrm>
            <a:off x="5076650" y="2654200"/>
            <a:ext cx="1840200" cy="16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Partner is recognized as “NVIDIA-Certified Hypervisor” by NVIDIA upon successful completion of single-node ARM validation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>
            <a:spLocks noGrp="1"/>
          </p:cNvSpPr>
          <p:nvPr>
            <p:ph type="ctrTitle"/>
          </p:nvPr>
        </p:nvSpPr>
        <p:spPr>
          <a:xfrm>
            <a:off x="378250" y="1052725"/>
            <a:ext cx="53874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11425" rIns="22850" bIns="11425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3000">
                <a:latin typeface="NVIDIA Sans"/>
                <a:ea typeface="NVIDIA Sans"/>
                <a:cs typeface="NVIDIA Sans"/>
                <a:sym typeface="NVIDIA Sans"/>
              </a:rPr>
              <a:t>Validation Suite &amp; Key Metrics</a:t>
            </a:r>
            <a:endParaRPr sz="3000">
              <a:latin typeface="NVIDIA Sans"/>
              <a:ea typeface="NVIDIA Sans"/>
              <a:cs typeface="NVIDIA Sans"/>
              <a:sym typeface="NVIDI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>
            <a:spLocks noGrp="1"/>
          </p:cNvSpPr>
          <p:nvPr>
            <p:ph type="title"/>
          </p:nvPr>
        </p:nvSpPr>
        <p:spPr>
          <a:xfrm>
            <a:off x="311700" y="1437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>
                <a:solidFill>
                  <a:srgbClr val="76B900"/>
                </a:solidFill>
                <a:latin typeface="NVIDIA Sans"/>
                <a:ea typeface="NVIDIA Sans"/>
                <a:cs typeface="NVIDIA Sans"/>
                <a:sym typeface="NVIDIA Sans"/>
              </a:rPr>
              <a:t>X86 Validation Test Suite &amp; Key Metrics</a:t>
            </a:r>
            <a:endParaRPr sz="2300">
              <a:solidFill>
                <a:srgbClr val="76B900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graphicFrame>
        <p:nvGraphicFramePr>
          <p:cNvPr id="115" name="Google Shape;115;p21"/>
          <p:cNvGraphicFramePr/>
          <p:nvPr/>
        </p:nvGraphicFramePr>
        <p:xfrm>
          <a:off x="1250225" y="716463"/>
          <a:ext cx="6562750" cy="3657360"/>
        </p:xfrm>
        <a:graphic>
          <a:graphicData uri="http://schemas.openxmlformats.org/drawingml/2006/table">
            <a:tbl>
              <a:tblPr>
                <a:noFill/>
                <a:tableStyleId>{E579DCFE-11B6-4915-AA6C-D9035A518B1B}</a:tableStyleId>
              </a:tblPr>
              <a:tblGrid>
                <a:gridCol w="89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5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3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8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2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Tests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What it measures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Metric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Phase I- Single Node x86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Phase II- Multi Node x86 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NCCL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GPU-to-GPU collective communication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Avg Bus BW or Throughput (GB/s)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NV Bandwidth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GPU/CPU/memory bandwidth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Bandwidth (GB/s)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GPU Stream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GPU memory bandwidth for streaming operations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Throughput (MB/sec)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HPL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Floating-point compute performance (FLOPS)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GFLOPS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cublas Matrix Multiplication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GPU compute performance for linear algebra operations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GFLOPS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LLM Perf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LLM inference throughput/latency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Throughput (tokens/sec))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L="114300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llama-3-70B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DeepSeek R1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7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GPU Direct RDMA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Cross-node GPU-to-GPU via RDMA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Throughput BW (GB/s)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16" name="Google Shape;116;p21" descr="File:Sign-check-icon.png - Wikimedia Common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8638" y="1271200"/>
            <a:ext cx="232074" cy="23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descr="File:Sign-check-icon.png - Wikimedia Common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8200" y="1220125"/>
            <a:ext cx="232074" cy="23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1" descr="File:Sign-check-icon.png - Wikimedia Common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8638" y="1745100"/>
            <a:ext cx="232074" cy="23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1" descr="File:Sign-check-icon.png - Wikimedia Common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8638" y="2219000"/>
            <a:ext cx="232074" cy="23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1" descr="File:Sign-check-icon.png - Wikimedia Common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8638" y="2675713"/>
            <a:ext cx="232074" cy="23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1" descr="File:Sign-check-icon.png - Wikimedia Common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8638" y="3125825"/>
            <a:ext cx="232074" cy="23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 descr="File:Sign-check-icon.png - Wikimedia Common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8638" y="3648850"/>
            <a:ext cx="232074" cy="23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 descr="File:Sign-check-icon.png - Wikimedia Common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8200" y="3648850"/>
            <a:ext cx="232074" cy="23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1" descr="File:Sign-check-icon.png - Wikimedia Common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8200" y="4044163"/>
            <a:ext cx="232074" cy="23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1" descr="File:Sign-check-icon.png - Wikimedia Common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8200" y="2661050"/>
            <a:ext cx="232074" cy="232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>
          <a:xfrm>
            <a:off x="311700" y="1437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00">
                <a:solidFill>
                  <a:srgbClr val="76B900"/>
                </a:solidFill>
                <a:latin typeface="NVIDIA Sans"/>
                <a:ea typeface="NVIDIA Sans"/>
                <a:cs typeface="NVIDIA Sans"/>
                <a:sym typeface="NVIDIA Sans"/>
              </a:rPr>
              <a:t>ARM Validation Test Suite &amp; Key Metrics</a:t>
            </a:r>
            <a:endParaRPr sz="2300">
              <a:solidFill>
                <a:srgbClr val="76B900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graphicFrame>
        <p:nvGraphicFramePr>
          <p:cNvPr id="131" name="Google Shape;131;p22"/>
          <p:cNvGraphicFramePr/>
          <p:nvPr/>
        </p:nvGraphicFramePr>
        <p:xfrm>
          <a:off x="2155550" y="909125"/>
          <a:ext cx="5204075" cy="3337350"/>
        </p:xfrm>
        <a:graphic>
          <a:graphicData uri="http://schemas.openxmlformats.org/drawingml/2006/table">
            <a:tbl>
              <a:tblPr>
                <a:noFill/>
                <a:tableStyleId>{E579DCFE-11B6-4915-AA6C-D9035A518B1B}</a:tableStyleId>
              </a:tblPr>
              <a:tblGrid>
                <a:gridCol w="89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5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3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Tests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What it measures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Metric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Single GB200 NVL Compute Tray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NCCL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GPU-to-GPU collective communication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Avg Bus BW or Throughput (GB/s)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NV Bandwidth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GPU/CPU/memory bandwidth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Bandwidth (GB/s)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GPU Stream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GPU memory bandwidth for streaming operations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Throughput (MB/sec)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HPL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Floating-point compute performance (FLOPS)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GFLOPS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cublas Matrix Multiplication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GPU compute performance for linear algebra operations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GFLOPS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LLM Perf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LLM inference throughput/latency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Throughput (tokens/sec)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L="114300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GPT OSS 120B</a:t>
                      </a:r>
                      <a:endParaRPr sz="900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32" name="Google Shape;132;p22" descr="File:Sign-check-icon.png - Wikimedia Common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4288" y="1366275"/>
            <a:ext cx="232074" cy="23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2" descr="File:Sign-check-icon.png - Wikimedia Common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4288" y="1840175"/>
            <a:ext cx="232074" cy="23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2" descr="File:Sign-check-icon.png - Wikimedia Common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4288" y="2314075"/>
            <a:ext cx="232074" cy="23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2" descr="File:Sign-check-icon.png - Wikimedia Common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4288" y="2770788"/>
            <a:ext cx="232074" cy="23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2" descr="File:Sign-check-icon.png - Wikimedia Common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4288" y="3220900"/>
            <a:ext cx="232074" cy="23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2" descr="File:Sign-check-icon.png - Wikimedia Common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4288" y="3743925"/>
            <a:ext cx="232074" cy="232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6AA84F"/>
                </a:solidFill>
                <a:latin typeface="NVIDIA Sans"/>
                <a:ea typeface="NVIDIA Sans"/>
                <a:cs typeface="NVIDIA Sans"/>
                <a:sym typeface="NVIDIA Sans"/>
              </a:rPr>
              <a:t>Success Criteria</a:t>
            </a:r>
            <a:endParaRPr>
              <a:solidFill>
                <a:srgbClr val="6AA84F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graphicFrame>
        <p:nvGraphicFramePr>
          <p:cNvPr id="143" name="Google Shape;143;p23"/>
          <p:cNvGraphicFramePr/>
          <p:nvPr/>
        </p:nvGraphicFramePr>
        <p:xfrm>
          <a:off x="952500" y="1517550"/>
          <a:ext cx="7239000" cy="1615350"/>
        </p:xfrm>
        <a:graphic>
          <a:graphicData uri="http://schemas.openxmlformats.org/drawingml/2006/table">
            <a:tbl>
              <a:tblPr>
                <a:noFill/>
                <a:tableStyleId>{54C16988-FEC2-4D51-95F9-27ABCF305A5E}</a:tableStyleId>
              </a:tblPr>
              <a:tblGrid>
                <a:gridCol w="1277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1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Outcome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/>
                        <a:t>Requirements</a:t>
                      </a: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dk1"/>
                          </a:solidFill>
                        </a:rPr>
                        <a:t>PASS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dk1"/>
                          </a:solidFill>
                        </a:rPr>
                        <a:t>The results for each benchmark are within the desired threshold of NVIDIA’s virtualization control stack performance baseline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dk1"/>
                          </a:solidFill>
                        </a:rPr>
                        <a:t>FAIL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solidFill>
                            <a:schemeClr val="dk1"/>
                          </a:solidFill>
                        </a:rPr>
                        <a:t>One/more test results deviate beyond the prescribed threshold from NVIDIA’s virtualization control stack performance baseline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5C8C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>
            <a:spLocks noGrp="1"/>
          </p:cNvSpPr>
          <p:nvPr>
            <p:ph type="ctrTitle"/>
          </p:nvPr>
        </p:nvSpPr>
        <p:spPr>
          <a:xfrm>
            <a:off x="378250" y="1052725"/>
            <a:ext cx="53874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11425" rIns="22850" bIns="1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" sz="3000">
                <a:latin typeface="NVIDIA Sans"/>
                <a:ea typeface="NVIDIA Sans"/>
                <a:cs typeface="NVIDIA Sans"/>
                <a:sym typeface="NVIDIA Sans"/>
              </a:rPr>
              <a:t>x86 Certification Track-</a:t>
            </a:r>
            <a:endParaRPr sz="3000">
              <a:latin typeface="NVIDIA Sans"/>
              <a:ea typeface="NVIDIA Sans"/>
              <a:cs typeface="NVIDIA Sans"/>
              <a:sym typeface="NVIDIA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3000">
                <a:latin typeface="NVIDIA Sans"/>
                <a:ea typeface="NVIDIA Sans"/>
                <a:cs typeface="NVIDIA Sans"/>
                <a:sym typeface="NVIDIA Sans"/>
              </a:rPr>
              <a:t>Reference Software Stacks </a:t>
            </a:r>
            <a:endParaRPr sz="3000">
              <a:latin typeface="NVIDIA Sans"/>
              <a:ea typeface="NVIDIA Sans"/>
              <a:cs typeface="NVIDIA Sans"/>
              <a:sym typeface="NVIDI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" name="Google Shape;153;p25"/>
          <p:cNvGraphicFramePr/>
          <p:nvPr/>
        </p:nvGraphicFramePr>
        <p:xfrm>
          <a:off x="2009488" y="687000"/>
          <a:ext cx="5125025" cy="4083053"/>
        </p:xfrm>
        <a:graphic>
          <a:graphicData uri="http://schemas.openxmlformats.org/drawingml/2006/table">
            <a:tbl>
              <a:tblPr>
                <a:noFill/>
                <a:tableStyleId>{A7118952-4494-4979-8511-52959AE7D65F}</a:tableStyleId>
              </a:tblPr>
              <a:tblGrid>
                <a:gridCol w="1364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84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/>
                        <a:t>Category</a:t>
                      </a:r>
                      <a:endParaRPr sz="900" b="1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/>
                        <a:t>Bare Metal Baseline</a:t>
                      </a:r>
                      <a:endParaRPr sz="900" b="1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b="1"/>
                        <a:t>Virtualized Control Stack- Single Node 8 GPU Passthrough VM</a:t>
                      </a:r>
                      <a:endParaRPr sz="900" b="1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Server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DGX H100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DGX H100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Switch Connectivity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TOR (100 Gb)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TOR (100 Gb)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GPUs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8x H100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8x H100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NICs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4x CX-7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4x CX-7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DPU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1x BF3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1x BF3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Platform OS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Ubuntu 24.04 LTS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N/A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9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Platform OS Kernel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5.15.0-153-generic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9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Hyperthreading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ON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ON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9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Hypervisor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N/A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Ubuntu 22.04 LTS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9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KVM/QEMU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N/A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6.2.0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Fabric Manager Version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N/A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N/A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9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Guest OS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N/A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Ubuntu 24.04 LTS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67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Datacenter Driver Version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R580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R580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9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Container Runtime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containerd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containerd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9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K8s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K8s 1.31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K8s 1.31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9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GPU Operator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25.3.0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25.3.0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79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Network Operator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N/A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N/A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79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LLM NIM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Llama-3.3-70B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Llama-3.3-70B</a:t>
                      </a:r>
                      <a:endParaRPr sz="9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154" name="Google Shape;154;p25"/>
          <p:cNvSpPr txBox="1">
            <a:spLocks noGrp="1"/>
          </p:cNvSpPr>
          <p:nvPr>
            <p:ph type="title"/>
          </p:nvPr>
        </p:nvSpPr>
        <p:spPr>
          <a:xfrm>
            <a:off x="311700" y="1143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6AA84F"/>
                </a:solidFill>
                <a:latin typeface="NVIDIA Sans"/>
                <a:ea typeface="NVIDIA Sans"/>
                <a:cs typeface="NVIDIA Sans"/>
                <a:sym typeface="NVIDIA Sans"/>
              </a:rPr>
              <a:t>Single node x86 Certification SW Stack</a:t>
            </a:r>
            <a:endParaRPr>
              <a:solidFill>
                <a:srgbClr val="6AA84F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>
            <a:spLocks noGrp="1"/>
          </p:cNvSpPr>
          <p:nvPr>
            <p:ph type="title"/>
          </p:nvPr>
        </p:nvSpPr>
        <p:spPr>
          <a:xfrm>
            <a:off x="311700" y="1143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6AA84F"/>
                </a:solidFill>
                <a:latin typeface="NVIDIA Sans"/>
                <a:ea typeface="NVIDIA Sans"/>
                <a:cs typeface="NVIDIA Sans"/>
                <a:sym typeface="NVIDIA Sans"/>
              </a:rPr>
              <a:t>Multi Node x86 Certification SW Stack</a:t>
            </a:r>
            <a:endParaRPr>
              <a:solidFill>
                <a:srgbClr val="6AA84F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graphicFrame>
        <p:nvGraphicFramePr>
          <p:cNvPr id="160" name="Google Shape;160;p26"/>
          <p:cNvGraphicFramePr/>
          <p:nvPr/>
        </p:nvGraphicFramePr>
        <p:xfrm>
          <a:off x="1691425" y="954000"/>
          <a:ext cx="4727500" cy="3916100"/>
        </p:xfrm>
        <a:graphic>
          <a:graphicData uri="http://schemas.openxmlformats.org/drawingml/2006/table">
            <a:tbl>
              <a:tblPr>
                <a:noFill/>
                <a:tableStyleId>{A7118952-4494-4979-8511-52959AE7D65F}</a:tableStyleId>
              </a:tblPr>
              <a:tblGrid>
                <a:gridCol w="1303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8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1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Category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Multi-node Bare metal Baseline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/>
                        <a:t>Virtualized Control Stack– Multi Node 8-GPU Passthrough VM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Server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DGX H100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DGX H100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Switch Connectivity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TOR (100 Gb)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TOR (100 Gb)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GPUs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8x H100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8x H100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NICs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4x CX-7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4x CX-7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DPU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1x BF3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1x BF3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Platform OS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Ubuntu 24.04.3 LTS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Ubuntu 24.04.3 LTS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Platform OS Kernel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6.11.0-1027-oem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6.8.0-101-generic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4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Hyperthreading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ON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ON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4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Hypervisor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N/A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Ubuntu 22.04 LTS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96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KVM/QEMU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QEMU emulator version 8.2.2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QEMU emulator version 8.2.2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4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Fabric Manager Version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580.126.09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580.126.09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4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Guest OS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N/A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Ubuntu 24.04 LTS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4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Datacenter Driver Version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580.126.09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580.126.09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4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Container Runtime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containerd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containerd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4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K8s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K8s 1.33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K8s 1.33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4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GPU Operator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25.3.2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26.3.0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4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Network Operator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N/A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N/A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4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LLM NIM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DeepSeek-R1 671B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DeepSeek-R1 671B</a:t>
                      </a:r>
                      <a:endParaRPr sz="800"/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>
            <a:spLocks noGrp="1"/>
          </p:cNvSpPr>
          <p:nvPr>
            <p:ph type="ctrTitle"/>
          </p:nvPr>
        </p:nvSpPr>
        <p:spPr>
          <a:xfrm>
            <a:off x="378250" y="1052725"/>
            <a:ext cx="53874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11425" rIns="22850" bIns="11425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3000">
                <a:latin typeface="NVIDIA Sans"/>
                <a:ea typeface="NVIDIA Sans"/>
                <a:cs typeface="NVIDIA Sans"/>
                <a:sym typeface="NVIDIA Sans"/>
              </a:rPr>
              <a:t>Closing</a:t>
            </a:r>
            <a:endParaRPr sz="3000">
              <a:latin typeface="NVIDIA Sans"/>
              <a:ea typeface="NVIDIA Sans"/>
              <a:cs typeface="NVIDIA Sans"/>
              <a:sym typeface="NVIDIA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>
            <a:spLocks noGrp="1"/>
          </p:cNvSpPr>
          <p:nvPr>
            <p:ph type="title"/>
          </p:nvPr>
        </p:nvSpPr>
        <p:spPr>
          <a:xfrm>
            <a:off x="311700" y="38902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rgbClr val="76B900"/>
                </a:solidFill>
                <a:latin typeface="NVIDIA Sans"/>
                <a:ea typeface="NVIDIA Sans"/>
                <a:cs typeface="NVIDIA Sans"/>
                <a:sym typeface="NVIDIA Sans"/>
              </a:rPr>
              <a:t>Next Steps</a:t>
            </a:r>
            <a:endParaRPr sz="2500">
              <a:solidFill>
                <a:srgbClr val="76B900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sp>
        <p:nvSpPr>
          <p:cNvPr id="171" name="Google Shape;171;p28"/>
          <p:cNvSpPr txBox="1"/>
          <p:nvPr/>
        </p:nvSpPr>
        <p:spPr>
          <a:xfrm>
            <a:off x="338900" y="1211950"/>
            <a:ext cx="8520600" cy="16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 b="1">
                <a:solidFill>
                  <a:schemeClr val="dk2"/>
                </a:solidFill>
              </a:rPr>
              <a:t>NVIDIA is targeting Q3 (July) to launch this program and would love to have Red Hat successfully complete certification before launch. </a:t>
            </a:r>
            <a:endParaRPr sz="1200" b="1">
              <a:solidFill>
                <a:schemeClr val="dk2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2"/>
              </a:solidFill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 b="1">
                <a:solidFill>
                  <a:schemeClr val="dk2"/>
                </a:solidFill>
              </a:rPr>
              <a:t>NVIDIA LaunchPad will provide compute access needed for running validation on systems aligned with NVIDIA’s roadmap:</a:t>
            </a:r>
            <a:endParaRPr sz="1200" b="1">
              <a:solidFill>
                <a:schemeClr val="dk2"/>
              </a:solidFill>
            </a:endParaRPr>
          </a:p>
          <a:p>
            <a: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</a:pPr>
            <a:r>
              <a:rPr lang="en" sz="1200" b="1">
                <a:solidFill>
                  <a:schemeClr val="dk2"/>
                </a:solidFill>
              </a:rPr>
              <a:t>Next steps involve targeting a branch of OCP + OpenShift Virtualization (OSV) and facilitating hardware access to Red Hat to begin validation</a:t>
            </a:r>
            <a:endParaRPr sz="1200"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>
            <a:spLocks noGrp="1"/>
          </p:cNvSpPr>
          <p:nvPr>
            <p:ph type="title"/>
          </p:nvPr>
        </p:nvSpPr>
        <p:spPr>
          <a:xfrm>
            <a:off x="311700" y="223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>
                <a:solidFill>
                  <a:srgbClr val="6AA84F"/>
                </a:solidFill>
                <a:latin typeface="NVIDIA Sans"/>
                <a:ea typeface="NVIDIA Sans"/>
                <a:cs typeface="NVIDIA Sans"/>
                <a:sym typeface="NVIDIA Sans"/>
              </a:rPr>
              <a:t>x86 Performance Certification Summary</a:t>
            </a:r>
            <a:endParaRPr sz="2500">
              <a:solidFill>
                <a:srgbClr val="6AA84F"/>
              </a:solidFill>
              <a:latin typeface="NVIDIA Sans"/>
              <a:ea typeface="NVIDIA Sans"/>
              <a:cs typeface="NVIDIA Sans"/>
              <a:sym typeface="NVIDIA Sans"/>
            </a:endParaRPr>
          </a:p>
        </p:txBody>
      </p:sp>
      <p:graphicFrame>
        <p:nvGraphicFramePr>
          <p:cNvPr id="177" name="Google Shape;177;p29"/>
          <p:cNvGraphicFramePr/>
          <p:nvPr/>
        </p:nvGraphicFramePr>
        <p:xfrm>
          <a:off x="709313" y="1040725"/>
          <a:ext cx="7725350" cy="3430280"/>
        </p:xfrm>
        <a:graphic>
          <a:graphicData uri="http://schemas.openxmlformats.org/drawingml/2006/table">
            <a:tbl>
              <a:tblPr>
                <a:noFill/>
                <a:tableStyleId>{622B5319-53D3-406E-919C-29FF924BB73E}</a:tableStyleId>
              </a:tblPr>
              <a:tblGrid>
                <a:gridCol w="128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1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8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/>
                        <a:t>Phase </a:t>
                      </a:r>
                      <a:endParaRPr sz="1200" b="1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/>
                        <a:t>VM Config</a:t>
                      </a:r>
                      <a:endParaRPr sz="1200" b="1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/>
                        <a:t>Performance Benchmarks</a:t>
                      </a:r>
                      <a:endParaRPr sz="1200" b="1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/>
                        <a:t>Evaluation Outcome</a:t>
                      </a:r>
                      <a:endParaRPr sz="1200" b="1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Phase I- Single Node</a:t>
                      </a:r>
                      <a:endParaRPr sz="1200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</a:rPr>
                        <a:t>Single 8-GPU VM configured in full passthrough</a:t>
                      </a:r>
                      <a:endParaRPr sz="1200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</a:rPr>
                        <a:t>Core Tests</a:t>
                      </a:r>
                      <a:endParaRPr sz="1200" u="none" strike="noStrike" cap="none"/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en" sz="1200" u="none" strike="noStrike" cap="none"/>
                        <a:t>LLM Perf</a:t>
                      </a:r>
                      <a:endParaRPr sz="1200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14300" marR="0" lvl="0" indent="-10477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en" sz="1200" b="1" u="none" strike="noStrike" cap="none">
                          <a:solidFill>
                            <a:srgbClr val="6AA84F"/>
                          </a:solidFill>
                        </a:rPr>
                        <a:t>PASS</a:t>
                      </a:r>
                      <a:r>
                        <a:rPr lang="en" sz="1200" u="none" strike="noStrike" cap="none"/>
                        <a:t> = Partner can move forward with Phase II</a:t>
                      </a:r>
                      <a:br>
                        <a:rPr lang="en" sz="1200" u="none" strike="noStrike" cap="none"/>
                      </a:br>
                      <a:endParaRPr sz="1200" u="none" strike="noStrike" cap="none"/>
                    </a:p>
                    <a:p>
                      <a:pPr marL="114300" marR="0" lvl="0" indent="-10477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en" sz="1200" b="1" u="none" strike="noStrike" cap="none">
                          <a:solidFill>
                            <a:srgbClr val="FF0000"/>
                          </a:solidFill>
                        </a:rPr>
                        <a:t>FAIL</a:t>
                      </a:r>
                      <a:r>
                        <a:rPr lang="en" sz="1200" u="none" strike="noStrike" cap="none"/>
                        <a:t> = NVIDIA team to evaluate results on a case by case basis. Partner to troubleshoot their stack based on NVIDIA’s recommendations and re-run the tests</a:t>
                      </a:r>
                      <a:br>
                        <a:rPr lang="en" sz="1200" u="none" strike="noStrike" cap="none"/>
                      </a:br>
                      <a:endParaRPr sz="1200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5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/>
                        <a:t>Phase II- Multi Node</a:t>
                      </a:r>
                      <a:endParaRPr sz="1200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</a:rPr>
                        <a:t>Two identical 8-GPU VMs configured in full passthrough and deployed on two separate DGX/HGX nodes</a:t>
                      </a:r>
                      <a:endParaRPr sz="1200" u="none" strike="noStrike" cap="none"/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</a:rPr>
                        <a:t>Core Tests</a:t>
                      </a: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</a:rPr>
                        <a:t>LLM Perf</a:t>
                      </a: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457200" marR="0" lvl="0" indent="-3048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en" sz="1200" u="none" strike="noStrike" cap="none">
                          <a:solidFill>
                            <a:schemeClr val="dk1"/>
                          </a:solidFill>
                        </a:rPr>
                        <a:t>GPU Direct RDMA</a:t>
                      </a:r>
                      <a:endParaRPr sz="12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14300" marR="0" lvl="0" indent="-10477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en" sz="1200" b="1" u="none" strike="noStrike" cap="none">
                          <a:solidFill>
                            <a:srgbClr val="6AA84F"/>
                          </a:solidFill>
                        </a:rPr>
                        <a:t>PASS</a:t>
                      </a:r>
                      <a:r>
                        <a:rPr lang="en" sz="1200" u="none" strike="noStrike" cap="none">
                          <a:solidFill>
                            <a:schemeClr val="dk1"/>
                          </a:solidFill>
                        </a:rPr>
                        <a:t> = Partner is certified to run 8 GPU VMs with near-bare metal performance for AI inferencing workloads on NVIDIA x86 systems</a:t>
                      </a:r>
                      <a:br>
                        <a:rPr lang="en" sz="1200" u="none" strike="noStrike" cap="none"/>
                      </a:br>
                      <a:endParaRPr sz="1200" u="none" strike="noStrike" cap="none"/>
                    </a:p>
                    <a:p>
                      <a:pPr marL="114300" marR="0" lvl="0" indent="-104775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200"/>
                        <a:buFont typeface="Arial"/>
                        <a:buChar char="●"/>
                      </a:pPr>
                      <a:r>
                        <a:rPr lang="en" sz="1200" b="1" u="none" strike="noStrike" cap="none">
                          <a:solidFill>
                            <a:srgbClr val="FF0000"/>
                          </a:solidFill>
                        </a:rPr>
                        <a:t>FAIL </a:t>
                      </a:r>
                      <a:r>
                        <a:rPr lang="en" sz="1200" u="none" strike="noStrike" cap="none">
                          <a:solidFill>
                            <a:schemeClr val="dk1"/>
                          </a:solidFill>
                        </a:rPr>
                        <a:t>= NVIDIA team to evaluate results on a case by case basis.</a:t>
                      </a:r>
                      <a:r>
                        <a:rPr lang="en" sz="1200" b="1" u="none" strike="noStrike" cap="none">
                          <a:solidFill>
                            <a:srgbClr val="FF0000"/>
                          </a:solidFill>
                        </a:rPr>
                        <a:t> </a:t>
                      </a:r>
                      <a:endParaRPr sz="12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 txBox="1">
            <a:spLocks noGrp="1"/>
          </p:cNvSpPr>
          <p:nvPr>
            <p:ph type="ctrTitle"/>
          </p:nvPr>
        </p:nvSpPr>
        <p:spPr>
          <a:xfrm>
            <a:off x="378250" y="1052725"/>
            <a:ext cx="53874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50" tIns="11425" rIns="22850" bIns="11425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3000">
                <a:latin typeface="NVIDIA Sans"/>
                <a:ea typeface="NVIDIA Sans"/>
                <a:cs typeface="NVIDIA Sans"/>
                <a:sym typeface="NVIDIA Sans"/>
              </a:rPr>
              <a:t>Thank You</a:t>
            </a:r>
            <a:endParaRPr sz="3000">
              <a:latin typeface="NVIDIA Sans"/>
              <a:ea typeface="NVIDIA Sans"/>
              <a:cs typeface="NVIDIA Sans"/>
              <a:sym typeface="NVIDI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1009</Words>
  <Application>Microsoft Macintosh PowerPoint</Application>
  <PresentationFormat>On-screen Show (16:9)</PresentationFormat>
  <Paragraphs>235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NVIDIA Sans</vt:lpstr>
      <vt:lpstr>Simple Light</vt:lpstr>
      <vt:lpstr>NVIDIA-Certified Hypervisor Program</vt:lpstr>
      <vt:lpstr>Context/Opportunity</vt:lpstr>
      <vt:lpstr>Pgm Goals &amp; Overview</vt:lpstr>
      <vt:lpstr>Program Tracks</vt:lpstr>
      <vt:lpstr>Track I- x86 Servers</vt:lpstr>
      <vt:lpstr>Track II - ARM Servers</vt:lpstr>
      <vt:lpstr>Validation Suite &amp; Key Metrics</vt:lpstr>
      <vt:lpstr>X86 Validation Test Suite &amp; Key Metrics</vt:lpstr>
      <vt:lpstr>ARM Validation Test Suite &amp; Key Metrics</vt:lpstr>
      <vt:lpstr>Success Criteria</vt:lpstr>
      <vt:lpstr>x86 Certification Track- Reference Software Stacks </vt:lpstr>
      <vt:lpstr>Single node x86 Certification SW Stack</vt:lpstr>
      <vt:lpstr>Multi Node x86 Certification SW Stack</vt:lpstr>
      <vt:lpstr>Closing</vt:lpstr>
      <vt:lpstr>Next Steps</vt:lpstr>
      <vt:lpstr>x86 Performance Certification Summary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Daniel Fatade</cp:lastModifiedBy>
  <cp:revision>1</cp:revision>
  <dcterms:modified xsi:type="dcterms:W3CDTF">2026-06-11T22:46:36Z</dcterms:modified>
</cp:coreProperties>
</file>